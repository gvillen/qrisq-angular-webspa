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005618-0B5C-4119-90AE-D41056EFB61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474BCB-8F4B-437F-A6A0-05BEF0F059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A6240-D417-4BE9-B85D-3C93A9A4ED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CEE64-15EC-4E21-93F1-5F4D5585B539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6774C-E871-4DDA-BB80-39B2268B18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3D1AE-64AD-425C-831B-2365EA43BF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30646-48D9-437D-BAA6-5CC1AC53C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93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30E87-3352-4D04-AE76-6DDF1BDE207F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8D7CE-E1B3-4842-B7CC-94158B155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33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8B7C-0956-4649-995A-A60E7B1EC409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1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C0DC-5099-45DF-8A95-10E88FD9AEE7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5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9FE3-FC3A-4088-BAA5-2CB1B036CA83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5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E5B6-D385-4177-8431-06E2C8C694C7}" type="datetime1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88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8F9FF-21F6-41A3-8383-44CAB1FD885D}" type="datetime1">
              <a:rPr lang="en-US" smtClean="0"/>
              <a:t>3/5/2021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58FF-4DFC-4AD2-94A8-8736348AD96F}" type="datetime1">
              <a:rPr lang="en-US" smtClean="0"/>
              <a:t>3/5/2021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29A63-3643-4F4C-91DB-919DC831B03F}" type="datetime1">
              <a:rPr lang="en-US" smtClean="0"/>
              <a:t>3/5/2021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F85B-B45B-4A16-BECF-A131F27AE613}" type="datetime1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7FAF-3A03-4273-A218-FDDD685A0646}" type="datetime1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FFB8-3CBB-48B5-93D3-A60530687054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24BA-E339-4CF6-94A1-BFBF42171433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1101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5797-97C7-40B6-B53B-5A24DA22C970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6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DF2A-FD5A-4127-9307-BFA31B76A74C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0153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ABFB6-EA5E-45A6-AAC2-31EAE67E497B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79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754-1D68-40D1-B3D9-FA3613484E15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98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029C4-7C15-45C0-AA4F-9C97794A4DB9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A3EC8-5965-4800-8A90-9746BC434BFC}" type="datetime1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5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qrisq.com/government-4/" TargetMode="External"/><Relationship Id="rId2" Type="http://schemas.openxmlformats.org/officeDocument/2006/relationships/hyperlink" Target="https://qrisq.com/homeowners-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risq.com/forecast-prior-to-landfall/" TargetMode="External"/><Relationship Id="rId5" Type="http://schemas.openxmlformats.org/officeDocument/2006/relationships/hyperlink" Target="https://qrisq.com/hindcast-post-event-analysis/" TargetMode="External"/><Relationship Id="rId4" Type="http://schemas.openxmlformats.org/officeDocument/2006/relationships/hyperlink" Target="https://qrisq.com/insurance-industry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qrisq.com/government-4/" TargetMode="External"/><Relationship Id="rId2" Type="http://schemas.openxmlformats.org/officeDocument/2006/relationships/hyperlink" Target="https://qrisq.com/homeowners-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risq.com/forecast-prior-to-landfall/" TargetMode="External"/><Relationship Id="rId5" Type="http://schemas.openxmlformats.org/officeDocument/2006/relationships/hyperlink" Target="https://qrisq.com/hindcast-post-event-analysis/" TargetMode="External"/><Relationship Id="rId4" Type="http://schemas.openxmlformats.org/officeDocument/2006/relationships/hyperlink" Target="https://qrisq.com/insurance-industr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52">
            <a:extLst>
              <a:ext uri="{FF2B5EF4-FFF2-40B4-BE49-F238E27FC236}">
                <a16:creationId xmlns:a16="http://schemas.microsoft.com/office/drawing/2014/main" id="{4445CE63-D4B1-4D90-B273-6802C9B19B10}"/>
              </a:ext>
            </a:extLst>
          </p:cNvPr>
          <p:cNvSpPr/>
          <p:nvPr/>
        </p:nvSpPr>
        <p:spPr>
          <a:xfrm>
            <a:off x="3344091" y="46940"/>
            <a:ext cx="5477692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risq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V2 Flow</a:t>
            </a:r>
          </a:p>
          <a:p>
            <a:pPr algn="ctr"/>
            <a:endParaRPr lang="en-US" dirty="0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FD152240-400F-4E87-A70F-524E5D187194}"/>
              </a:ext>
            </a:extLst>
          </p:cNvPr>
          <p:cNvSpPr/>
          <p:nvPr/>
        </p:nvSpPr>
        <p:spPr>
          <a:xfrm>
            <a:off x="7005682" y="1996728"/>
            <a:ext cx="4481290" cy="1180459"/>
          </a:xfrm>
          <a:prstGeom prst="roundRect">
            <a:avLst>
              <a:gd name="adj" fmla="val 14189"/>
            </a:avLst>
          </a:prstGeom>
          <a:ln w="28575"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FEE84CA7-253F-445D-874B-D5B9885CD2AA}"/>
              </a:ext>
            </a:extLst>
          </p:cNvPr>
          <p:cNvSpPr/>
          <p:nvPr/>
        </p:nvSpPr>
        <p:spPr>
          <a:xfrm>
            <a:off x="8427200" y="2373636"/>
            <a:ext cx="1300660" cy="551815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2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algn="ctr"/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Storm Surge Risk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37B29F-2B6C-4425-B72D-638DA62100DB}"/>
              </a:ext>
            </a:extLst>
          </p:cNvPr>
          <p:cNvSpPr/>
          <p:nvPr/>
        </p:nvSpPr>
        <p:spPr>
          <a:xfrm>
            <a:off x="5026369" y="595169"/>
            <a:ext cx="2204093" cy="488781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Home Page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BDF661F-09A4-4ECC-A995-3AA3308DBE6B}"/>
              </a:ext>
            </a:extLst>
          </p:cNvPr>
          <p:cNvSpPr/>
          <p:nvPr/>
        </p:nvSpPr>
        <p:spPr>
          <a:xfrm>
            <a:off x="8400521" y="1394353"/>
            <a:ext cx="1347432" cy="382221"/>
          </a:xfrm>
          <a:prstGeom prst="roundRect">
            <a:avLst>
              <a:gd name="adj" fmla="val 10000"/>
            </a:avLst>
          </a:prstGeom>
          <a:solidFill>
            <a:schemeClr val="accent1">
              <a:lumMod val="75000"/>
            </a:schemeClr>
          </a:solidFill>
          <a:ln w="19050">
            <a:solidFill>
              <a:schemeClr val="tx2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Login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6AB5081-6F92-436F-AAF4-81C5F8E7F31D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4461282" y="-262230"/>
            <a:ext cx="320955" cy="301331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8A37D87-AA2C-46BB-94DD-83F302E48F89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rot="16200000" flipH="1">
            <a:off x="7446125" y="-233760"/>
            <a:ext cx="310403" cy="2945821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7777237-82D1-4021-84F1-171D1840AC49}"/>
              </a:ext>
            </a:extLst>
          </p:cNvPr>
          <p:cNvSpPr/>
          <p:nvPr/>
        </p:nvSpPr>
        <p:spPr>
          <a:xfrm>
            <a:off x="0" y="3184446"/>
            <a:ext cx="4859383" cy="1143012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0522B5-FACF-4718-A97E-CBDFCCF622BF}"/>
              </a:ext>
            </a:extLst>
          </p:cNvPr>
          <p:cNvSpPr/>
          <p:nvPr/>
        </p:nvSpPr>
        <p:spPr>
          <a:xfrm>
            <a:off x="278673" y="1361958"/>
            <a:ext cx="5846449" cy="1180459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E260B3A-4608-42CB-B1D9-90F2E766D0EE}"/>
              </a:ext>
            </a:extLst>
          </p:cNvPr>
          <p:cNvSpPr/>
          <p:nvPr/>
        </p:nvSpPr>
        <p:spPr>
          <a:xfrm>
            <a:off x="2088811" y="1404905"/>
            <a:ext cx="2052580" cy="323644"/>
          </a:xfrm>
          <a:prstGeom prst="roundRect">
            <a:avLst>
              <a:gd name="adj" fmla="val 10000"/>
            </a:avLst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Area Verification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6C7E66B-0702-4A83-99FE-8C5CE4B9E24C}"/>
              </a:ext>
            </a:extLst>
          </p:cNvPr>
          <p:cNvSpPr/>
          <p:nvPr/>
        </p:nvSpPr>
        <p:spPr>
          <a:xfrm>
            <a:off x="482170" y="2069664"/>
            <a:ext cx="1606640" cy="384454"/>
          </a:xfrm>
          <a:prstGeom prst="roundRect">
            <a:avLst>
              <a:gd name="adj" fmla="val 10000"/>
            </a:avLst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Surge &amp; Wind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2AB65B1-051C-4CC4-BC1E-77FDB6070C8E}"/>
              </a:ext>
            </a:extLst>
          </p:cNvPr>
          <p:cNvSpPr/>
          <p:nvPr/>
        </p:nvSpPr>
        <p:spPr>
          <a:xfrm>
            <a:off x="2255928" y="2066010"/>
            <a:ext cx="1600517" cy="386492"/>
          </a:xfrm>
          <a:prstGeom prst="roundRect">
            <a:avLst>
              <a:gd name="adj" fmla="val 10000"/>
            </a:avLst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Wind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492DB0-D6B5-4F85-87C7-2647E8B32030}"/>
              </a:ext>
            </a:extLst>
          </p:cNvPr>
          <p:cNvSpPr/>
          <p:nvPr/>
        </p:nvSpPr>
        <p:spPr>
          <a:xfrm>
            <a:off x="4037513" y="2078385"/>
            <a:ext cx="1917064" cy="372917"/>
          </a:xfrm>
          <a:prstGeom prst="roundRect">
            <a:avLst>
              <a:gd name="adj" fmla="val 10000"/>
            </a:avLst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Service Area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F8E5D4C-D332-43A6-A348-C98A009E29AB}"/>
              </a:ext>
            </a:extLst>
          </p:cNvPr>
          <p:cNvCxnSpPr>
            <a:cxnSpLocks/>
            <a:stCxn id="32" idx="2"/>
            <a:endCxn id="39" idx="0"/>
          </p:cNvCxnSpPr>
          <p:nvPr/>
        </p:nvCxnSpPr>
        <p:spPr>
          <a:xfrm rot="16200000" flipH="1">
            <a:off x="3880655" y="962995"/>
            <a:ext cx="349836" cy="1880944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7BA2150-B690-4B69-8E69-BCEFDBACCE7E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rot="5400000">
            <a:off x="2029739" y="984301"/>
            <a:ext cx="341115" cy="1829611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5150C7-623F-49DD-971C-FFD37DCF959D}"/>
              </a:ext>
            </a:extLst>
          </p:cNvPr>
          <p:cNvCxnSpPr>
            <a:cxnSpLocks/>
          </p:cNvCxnSpPr>
          <p:nvPr/>
        </p:nvCxnSpPr>
        <p:spPr>
          <a:xfrm>
            <a:off x="3115101" y="1899137"/>
            <a:ext cx="0" cy="16687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E6500CE-1BD8-41C5-8266-6503BF4DE332}"/>
              </a:ext>
            </a:extLst>
          </p:cNvPr>
          <p:cNvSpPr/>
          <p:nvPr/>
        </p:nvSpPr>
        <p:spPr>
          <a:xfrm>
            <a:off x="4116960" y="2628995"/>
            <a:ext cx="1758170" cy="453178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ctr" defTabSz="4889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Home Page/</a:t>
            </a:r>
          </a:p>
          <a:p>
            <a:pPr marL="0" marR="0" lvl="0" indent="0" algn="ctr" defTabSz="4889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Hurricane Viewer</a:t>
            </a:r>
          </a:p>
          <a:p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3581830-0AD7-413C-A195-F7C6F7A946CE}"/>
              </a:ext>
            </a:extLst>
          </p:cNvPr>
          <p:cNvCxnSpPr>
            <a:cxnSpLocks/>
            <a:stCxn id="39" idx="2"/>
            <a:endCxn id="72" idx="0"/>
          </p:cNvCxnSpPr>
          <p:nvPr/>
        </p:nvCxnSpPr>
        <p:spPr>
          <a:xfrm>
            <a:off x="4996045" y="2451302"/>
            <a:ext cx="0" cy="177693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CAC0B719-4FBB-4132-82C0-D4E7A4F189AE}"/>
              </a:ext>
            </a:extLst>
          </p:cNvPr>
          <p:cNvSpPr/>
          <p:nvPr/>
        </p:nvSpPr>
        <p:spPr>
          <a:xfrm>
            <a:off x="1283860" y="2563518"/>
            <a:ext cx="1769262" cy="409280"/>
          </a:xfrm>
          <a:prstGeom prst="roundRect">
            <a:avLst>
              <a:gd name="adj" fmla="val 10000"/>
            </a:avLst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03DD91D-4EE2-49FA-9D62-E9DEC0D1EE7F}"/>
              </a:ext>
            </a:extLst>
          </p:cNvPr>
          <p:cNvCxnSpPr>
            <a:cxnSpLocks/>
            <a:stCxn id="37" idx="2"/>
            <a:endCxn id="84" idx="0"/>
          </p:cNvCxnSpPr>
          <p:nvPr/>
        </p:nvCxnSpPr>
        <p:spPr>
          <a:xfrm flipH="1">
            <a:off x="2168491" y="2452502"/>
            <a:ext cx="887696" cy="111016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BA77589-F8C0-4C65-B4C1-8ADFB91EC704}"/>
              </a:ext>
            </a:extLst>
          </p:cNvPr>
          <p:cNvCxnSpPr>
            <a:cxnSpLocks/>
            <a:stCxn id="35" idx="2"/>
            <a:endCxn id="84" idx="0"/>
          </p:cNvCxnSpPr>
          <p:nvPr/>
        </p:nvCxnSpPr>
        <p:spPr>
          <a:xfrm>
            <a:off x="1285490" y="2454118"/>
            <a:ext cx="883001" cy="1094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DA36E9D-87DA-42DE-8533-C55DA70C4517}"/>
              </a:ext>
            </a:extLst>
          </p:cNvPr>
          <p:cNvCxnSpPr>
            <a:cxnSpLocks/>
            <a:stCxn id="107" idx="0"/>
            <a:endCxn id="84" idx="2"/>
          </p:cNvCxnSpPr>
          <p:nvPr/>
        </p:nvCxnSpPr>
        <p:spPr>
          <a:xfrm flipH="1" flipV="1">
            <a:off x="2168491" y="2972798"/>
            <a:ext cx="526871" cy="26168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CB16987-5638-4A2E-92B4-A5E3177C518A}"/>
              </a:ext>
            </a:extLst>
          </p:cNvPr>
          <p:cNvCxnSpPr>
            <a:cxnSpLocks/>
            <a:stCxn id="105" idx="0"/>
            <a:endCxn id="84" idx="2"/>
          </p:cNvCxnSpPr>
          <p:nvPr/>
        </p:nvCxnSpPr>
        <p:spPr>
          <a:xfrm flipV="1">
            <a:off x="1722796" y="2972798"/>
            <a:ext cx="445695" cy="254154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06731590-D956-4175-A5AA-1CB18DEBF547}"/>
              </a:ext>
            </a:extLst>
          </p:cNvPr>
          <p:cNvSpPr/>
          <p:nvPr/>
        </p:nvSpPr>
        <p:spPr>
          <a:xfrm>
            <a:off x="1263790" y="3226952"/>
            <a:ext cx="918011" cy="401549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PayPal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D18C637-93B5-4DDE-876E-66A84DE24C80}"/>
              </a:ext>
            </a:extLst>
          </p:cNvPr>
          <p:cNvSpPr/>
          <p:nvPr/>
        </p:nvSpPr>
        <p:spPr>
          <a:xfrm>
            <a:off x="2284101" y="3234481"/>
            <a:ext cx="822522" cy="401549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Integra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155B02F-B4E3-4E97-A565-B2EF3BFBACF0}"/>
              </a:ext>
            </a:extLst>
          </p:cNvPr>
          <p:cNvCxnSpPr>
            <a:cxnSpLocks/>
            <a:stCxn id="105" idx="2"/>
            <a:endCxn id="119" idx="0"/>
          </p:cNvCxnSpPr>
          <p:nvPr/>
        </p:nvCxnSpPr>
        <p:spPr>
          <a:xfrm>
            <a:off x="1722796" y="3628501"/>
            <a:ext cx="592046" cy="31569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FDC245AD-7972-4C07-A0FA-1A7C8E1F44E3}"/>
              </a:ext>
            </a:extLst>
          </p:cNvPr>
          <p:cNvCxnSpPr>
            <a:cxnSpLocks/>
            <a:stCxn id="16" idx="2"/>
            <a:endCxn id="267" idx="0"/>
          </p:cNvCxnSpPr>
          <p:nvPr/>
        </p:nvCxnSpPr>
        <p:spPr>
          <a:xfrm rot="16200000" flipH="1">
            <a:off x="9540684" y="1310127"/>
            <a:ext cx="603578" cy="1536472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253BDE17-B077-4274-9EEE-CD2F89050F8E}"/>
              </a:ext>
            </a:extLst>
          </p:cNvPr>
          <p:cNvCxnSpPr>
            <a:cxnSpLocks/>
            <a:stCxn id="16" idx="2"/>
            <a:endCxn id="258" idx="0"/>
          </p:cNvCxnSpPr>
          <p:nvPr/>
        </p:nvCxnSpPr>
        <p:spPr>
          <a:xfrm rot="5400000">
            <a:off x="8078020" y="1403245"/>
            <a:ext cx="622888" cy="1369546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51A7DD76-C69B-4ED9-AEDB-5130189CA486}"/>
              </a:ext>
            </a:extLst>
          </p:cNvPr>
          <p:cNvCxnSpPr>
            <a:cxnSpLocks/>
            <a:stCxn id="16" idx="2"/>
            <a:endCxn id="263" idx="0"/>
          </p:cNvCxnSpPr>
          <p:nvPr/>
        </p:nvCxnSpPr>
        <p:spPr>
          <a:xfrm>
            <a:off x="9074237" y="1776574"/>
            <a:ext cx="3293" cy="597062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987372E3-535A-46E5-B89A-AD99828DB695}"/>
              </a:ext>
            </a:extLst>
          </p:cNvPr>
          <p:cNvSpPr/>
          <p:nvPr/>
        </p:nvSpPr>
        <p:spPr>
          <a:xfrm>
            <a:off x="7109539" y="2399462"/>
            <a:ext cx="1190303" cy="551815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2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algn="ctr"/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CA7CC52F-9269-4BC0-8948-0CBCE3F87C8A}"/>
              </a:ext>
            </a:extLst>
          </p:cNvPr>
          <p:cNvSpPr/>
          <p:nvPr/>
        </p:nvSpPr>
        <p:spPr>
          <a:xfrm>
            <a:off x="9855218" y="2380152"/>
            <a:ext cx="1510982" cy="545299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Hurricane Summary </a:t>
            </a:r>
          </a:p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Track &amp; Cone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E4A21D4-4D04-4260-AB49-BB31216C215B}"/>
              </a:ext>
            </a:extLst>
          </p:cNvPr>
          <p:cNvSpPr txBox="1"/>
          <p:nvPr/>
        </p:nvSpPr>
        <p:spPr>
          <a:xfrm>
            <a:off x="3112948" y="876284"/>
            <a:ext cx="97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Up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58DB89D-2BB1-48F8-9B9B-75E9F504A73F}"/>
              </a:ext>
            </a:extLst>
          </p:cNvPr>
          <p:cNvSpPr txBox="1"/>
          <p:nvPr/>
        </p:nvSpPr>
        <p:spPr>
          <a:xfrm>
            <a:off x="8173443" y="873485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90BEC1-30BF-4417-BB60-EE97A2B69B8A}"/>
              </a:ext>
            </a:extLst>
          </p:cNvPr>
          <p:cNvSpPr txBox="1"/>
          <p:nvPr/>
        </p:nvSpPr>
        <p:spPr>
          <a:xfrm>
            <a:off x="6889488" y="544788"/>
            <a:ext cx="451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CD1C35-32E4-4EAA-8B28-E3B27B5165C2}"/>
              </a:ext>
            </a:extLst>
          </p:cNvPr>
          <p:cNvSpPr txBox="1"/>
          <p:nvPr/>
        </p:nvSpPr>
        <p:spPr>
          <a:xfrm>
            <a:off x="3844719" y="1310362"/>
            <a:ext cx="522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46FE57-0EAC-4F4E-888A-84CF7B082BCA}"/>
              </a:ext>
            </a:extLst>
          </p:cNvPr>
          <p:cNvSpPr txBox="1"/>
          <p:nvPr/>
        </p:nvSpPr>
        <p:spPr>
          <a:xfrm>
            <a:off x="1739635" y="1990749"/>
            <a:ext cx="476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93F68E-9E6C-43E0-9A1F-DA4EC785D234}"/>
              </a:ext>
            </a:extLst>
          </p:cNvPr>
          <p:cNvSpPr txBox="1"/>
          <p:nvPr/>
        </p:nvSpPr>
        <p:spPr>
          <a:xfrm>
            <a:off x="5572187" y="1998970"/>
            <a:ext cx="44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58AA02-E7DA-4C29-95A9-B3E029C531A0}"/>
              </a:ext>
            </a:extLst>
          </p:cNvPr>
          <p:cNvSpPr txBox="1"/>
          <p:nvPr/>
        </p:nvSpPr>
        <p:spPr>
          <a:xfrm>
            <a:off x="3473774" y="20030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6F0A6B-69F3-465F-987D-DE068E0DF7CB}"/>
              </a:ext>
            </a:extLst>
          </p:cNvPr>
          <p:cNvSpPr txBox="1"/>
          <p:nvPr/>
        </p:nvSpPr>
        <p:spPr>
          <a:xfrm>
            <a:off x="2665515" y="24984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63867B-C7E3-401A-AB63-B8367721208D}"/>
              </a:ext>
            </a:extLst>
          </p:cNvPr>
          <p:cNvSpPr txBox="1"/>
          <p:nvPr/>
        </p:nvSpPr>
        <p:spPr>
          <a:xfrm>
            <a:off x="1898933" y="316275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D2456F7-B33A-41D8-A941-465595276485}"/>
              </a:ext>
            </a:extLst>
          </p:cNvPr>
          <p:cNvSpPr txBox="1"/>
          <p:nvPr/>
        </p:nvSpPr>
        <p:spPr>
          <a:xfrm>
            <a:off x="10973927" y="230646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CB39F93-CE2B-427C-BF1C-7C451A2D943F}"/>
              </a:ext>
            </a:extLst>
          </p:cNvPr>
          <p:cNvSpPr txBox="1"/>
          <p:nvPr/>
        </p:nvSpPr>
        <p:spPr>
          <a:xfrm>
            <a:off x="9297933" y="231700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51278DA-70DF-41E0-9AC1-92D96E078F99}"/>
              </a:ext>
            </a:extLst>
          </p:cNvPr>
          <p:cNvSpPr txBox="1"/>
          <p:nvPr/>
        </p:nvSpPr>
        <p:spPr>
          <a:xfrm>
            <a:off x="7879577" y="2340772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#15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B907BCD-3B2A-4271-B3E2-738B76338AAA}"/>
              </a:ext>
            </a:extLst>
          </p:cNvPr>
          <p:cNvCxnSpPr>
            <a:cxnSpLocks/>
            <a:stCxn id="107" idx="2"/>
            <a:endCxn id="119" idx="0"/>
          </p:cNvCxnSpPr>
          <p:nvPr/>
        </p:nvCxnSpPr>
        <p:spPr>
          <a:xfrm flipH="1">
            <a:off x="2314842" y="3636030"/>
            <a:ext cx="380520" cy="308164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C00E45D8-D23A-4377-A994-23997BAABCF2}"/>
              </a:ext>
            </a:extLst>
          </p:cNvPr>
          <p:cNvSpPr/>
          <p:nvPr/>
        </p:nvSpPr>
        <p:spPr>
          <a:xfrm>
            <a:off x="356974" y="5555728"/>
            <a:ext cx="4302112" cy="1180459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EB24DCE7-7353-43F9-9B72-22722C5B3D29}"/>
              </a:ext>
            </a:extLst>
          </p:cNvPr>
          <p:cNvSpPr/>
          <p:nvPr/>
        </p:nvSpPr>
        <p:spPr>
          <a:xfrm>
            <a:off x="455938" y="5904500"/>
            <a:ext cx="1123196" cy="551815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2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algn="ctr"/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Wind Risk</a:t>
            </a:r>
          </a:p>
          <a:p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C13E8C2C-68A3-4C1D-B4A2-73BBDE7B5F08}"/>
              </a:ext>
            </a:extLst>
          </p:cNvPr>
          <p:cNvSpPr/>
          <p:nvPr/>
        </p:nvSpPr>
        <p:spPr>
          <a:xfrm>
            <a:off x="1661815" y="5904500"/>
            <a:ext cx="1306053" cy="551815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2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algn="ctr"/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Storm Surge Risk</a:t>
            </a:r>
          </a:p>
          <a:p>
            <a:endParaRPr lang="en-US" dirty="0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D6AA25E1-4300-4F89-BAD7-7CFFB578AE08}"/>
              </a:ext>
            </a:extLst>
          </p:cNvPr>
          <p:cNvSpPr/>
          <p:nvPr/>
        </p:nvSpPr>
        <p:spPr>
          <a:xfrm>
            <a:off x="3060629" y="5904500"/>
            <a:ext cx="1500583" cy="551815"/>
          </a:xfrm>
          <a:prstGeom prst="roundRect">
            <a:avLst>
              <a:gd name="adj" fmla="val 1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2">
                <a:lumMod val="50000"/>
              </a:schemeClr>
            </a:solidFill>
          </a:ln>
          <a:effectLst>
            <a:reflection blurRad="12700" stA="26000" endPos="32000" dist="12700" dir="5400000" sy="-100000" rotWithShape="0"/>
          </a:effectLst>
        </p:spPr>
        <p:txBody>
          <a:bodyPr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sysClr val="window" lastClr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Hurricane Summary </a:t>
            </a:r>
          </a:p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Track &amp; Cone</a:t>
            </a:r>
          </a:p>
          <a:p>
            <a:endParaRPr lang="en-US" dirty="0"/>
          </a:p>
        </p:txBody>
      </p: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42E5CAB8-85A7-4389-906B-0517E58B9602}"/>
              </a:ext>
            </a:extLst>
          </p:cNvPr>
          <p:cNvCxnSpPr>
            <a:cxnSpLocks/>
            <a:stCxn id="92" idx="2"/>
            <a:endCxn id="138" idx="0"/>
          </p:cNvCxnSpPr>
          <p:nvPr/>
        </p:nvCxnSpPr>
        <p:spPr>
          <a:xfrm rot="16200000" flipH="1">
            <a:off x="2833809" y="4927387"/>
            <a:ext cx="458147" cy="1496078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9F10A5AA-6567-4B8C-B9E0-3A40B55DF3DB}"/>
              </a:ext>
            </a:extLst>
          </p:cNvPr>
          <p:cNvCxnSpPr>
            <a:cxnSpLocks/>
            <a:stCxn id="92" idx="2"/>
            <a:endCxn id="140" idx="0"/>
          </p:cNvCxnSpPr>
          <p:nvPr/>
        </p:nvCxnSpPr>
        <p:spPr>
          <a:xfrm rot="5400000">
            <a:off x="1437117" y="5026773"/>
            <a:ext cx="458147" cy="1297307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1C0EA1D-916E-41C3-B2B1-348535106151}"/>
              </a:ext>
            </a:extLst>
          </p:cNvPr>
          <p:cNvCxnSpPr>
            <a:cxnSpLocks/>
            <a:stCxn id="92" idx="2"/>
            <a:endCxn id="135" idx="0"/>
          </p:cNvCxnSpPr>
          <p:nvPr/>
        </p:nvCxnSpPr>
        <p:spPr>
          <a:xfrm flipH="1">
            <a:off x="2314842" y="5446353"/>
            <a:ext cx="1" cy="458147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7E0DF80-1B5E-403B-B77B-3B805EEF2B6A}"/>
              </a:ext>
            </a:extLst>
          </p:cNvPr>
          <p:cNvSpPr/>
          <p:nvPr/>
        </p:nvSpPr>
        <p:spPr>
          <a:xfrm>
            <a:off x="1514584" y="5059861"/>
            <a:ext cx="1600517" cy="386492"/>
          </a:xfrm>
          <a:prstGeom prst="roundRect">
            <a:avLst>
              <a:gd name="adj" fmla="val 10000"/>
            </a:avLst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Account Created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370D8C2-F3D0-4CA4-92EF-DD48934D137C}"/>
              </a:ext>
            </a:extLst>
          </p:cNvPr>
          <p:cNvCxnSpPr>
            <a:cxnSpLocks/>
            <a:stCxn id="92" idx="0"/>
            <a:endCxn id="112" idx="2"/>
          </p:cNvCxnSpPr>
          <p:nvPr/>
        </p:nvCxnSpPr>
        <p:spPr>
          <a:xfrm flipH="1" flipV="1">
            <a:off x="2314842" y="4905566"/>
            <a:ext cx="1" cy="154295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D5EEE64-6953-4B27-AA90-A16533093F2E}"/>
              </a:ext>
            </a:extLst>
          </p:cNvPr>
          <p:cNvSpPr txBox="1"/>
          <p:nvPr/>
        </p:nvSpPr>
        <p:spPr>
          <a:xfrm>
            <a:off x="9372301" y="132066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#14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D49CAAAF-6964-4D8F-94D8-F99E0164A367}"/>
              </a:ext>
            </a:extLst>
          </p:cNvPr>
          <p:cNvSpPr/>
          <p:nvPr/>
        </p:nvSpPr>
        <p:spPr>
          <a:xfrm>
            <a:off x="1647151" y="4484439"/>
            <a:ext cx="1335382" cy="421127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Geolocation 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 Drag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D7167ED-5035-4737-890D-D242BDE3E42C}"/>
              </a:ext>
            </a:extLst>
          </p:cNvPr>
          <p:cNvSpPr/>
          <p:nvPr/>
        </p:nvSpPr>
        <p:spPr>
          <a:xfrm>
            <a:off x="1438082" y="3944194"/>
            <a:ext cx="1753520" cy="336929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ctr" defTabSz="4889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Payment Successful</a:t>
            </a:r>
          </a:p>
          <a:p>
            <a:endParaRPr lang="en-US" dirty="0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E24D194-C10C-469C-AD29-ACA4B1A20AFE}"/>
              </a:ext>
            </a:extLst>
          </p:cNvPr>
          <p:cNvCxnSpPr>
            <a:cxnSpLocks/>
            <a:stCxn id="119" idx="2"/>
            <a:endCxn id="112" idx="0"/>
          </p:cNvCxnSpPr>
          <p:nvPr/>
        </p:nvCxnSpPr>
        <p:spPr>
          <a:xfrm>
            <a:off x="2314842" y="4281123"/>
            <a:ext cx="0" cy="203316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69D89E0-66E9-477B-9711-7D4A352946F4}"/>
              </a:ext>
            </a:extLst>
          </p:cNvPr>
          <p:cNvSpPr txBox="1"/>
          <p:nvPr/>
        </p:nvSpPr>
        <p:spPr>
          <a:xfrm>
            <a:off x="2606659" y="4413110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427E59F-437F-4DCB-BDDB-8EA00E44B1E5}"/>
              </a:ext>
            </a:extLst>
          </p:cNvPr>
          <p:cNvSpPr txBox="1"/>
          <p:nvPr/>
        </p:nvSpPr>
        <p:spPr>
          <a:xfrm>
            <a:off x="1186551" y="5832846"/>
            <a:ext cx="46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D8F4013-47F1-40C8-8B6B-53CA0CD27E22}"/>
              </a:ext>
            </a:extLst>
          </p:cNvPr>
          <p:cNvSpPr/>
          <p:nvPr/>
        </p:nvSpPr>
        <p:spPr>
          <a:xfrm>
            <a:off x="34287" y="3654614"/>
            <a:ext cx="1229503" cy="401549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PayPal- Payment Unsuccessful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178A04C-0012-4B33-B5A1-CCF29A9866E2}"/>
              </a:ext>
            </a:extLst>
          </p:cNvPr>
          <p:cNvSpPr/>
          <p:nvPr/>
        </p:nvSpPr>
        <p:spPr>
          <a:xfrm>
            <a:off x="3331200" y="3623756"/>
            <a:ext cx="1324184" cy="401549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Integra – Payment unsuccessful</a:t>
            </a:r>
            <a:endParaRPr lang="en-US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321DB7D-DF05-464E-8411-C640BDEE2D6B}"/>
              </a:ext>
            </a:extLst>
          </p:cNvPr>
          <p:cNvCxnSpPr>
            <a:cxnSpLocks/>
            <a:stCxn id="66" idx="0"/>
            <a:endCxn id="105" idx="1"/>
          </p:cNvCxnSpPr>
          <p:nvPr/>
        </p:nvCxnSpPr>
        <p:spPr>
          <a:xfrm flipV="1">
            <a:off x="649039" y="3427727"/>
            <a:ext cx="614751" cy="22688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A294F37-5128-4D2F-BAA4-37CBD0D4DEC2}"/>
              </a:ext>
            </a:extLst>
          </p:cNvPr>
          <p:cNvCxnSpPr>
            <a:cxnSpLocks/>
            <a:stCxn id="107" idx="3"/>
            <a:endCxn id="67" idx="0"/>
          </p:cNvCxnSpPr>
          <p:nvPr/>
        </p:nvCxnSpPr>
        <p:spPr>
          <a:xfrm>
            <a:off x="3106623" y="3435256"/>
            <a:ext cx="886669" cy="1885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5F337B8-804F-48DF-B29E-6B2B16A2D6A8}"/>
              </a:ext>
            </a:extLst>
          </p:cNvPr>
          <p:cNvSpPr txBox="1"/>
          <p:nvPr/>
        </p:nvSpPr>
        <p:spPr>
          <a:xfrm>
            <a:off x="2808641" y="3171434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96B14C-4FA2-419B-AE51-CF52B8845519}"/>
              </a:ext>
            </a:extLst>
          </p:cNvPr>
          <p:cNvSpPr txBox="1"/>
          <p:nvPr/>
        </p:nvSpPr>
        <p:spPr>
          <a:xfrm>
            <a:off x="2848431" y="3865793"/>
            <a:ext cx="44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94D7BD-5355-4D80-B7B7-180EE4966079}"/>
              </a:ext>
            </a:extLst>
          </p:cNvPr>
          <p:cNvSpPr txBox="1"/>
          <p:nvPr/>
        </p:nvSpPr>
        <p:spPr>
          <a:xfrm>
            <a:off x="2763280" y="4978855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DAB7DB7-F6CA-4D9F-A06F-F7E25F2819E3}"/>
              </a:ext>
            </a:extLst>
          </p:cNvPr>
          <p:cNvSpPr txBox="1"/>
          <p:nvPr/>
        </p:nvSpPr>
        <p:spPr>
          <a:xfrm>
            <a:off x="2560279" y="5831211"/>
            <a:ext cx="453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#16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2B18476-D1A4-4C3A-829E-29FBBBCA7B72}"/>
              </a:ext>
            </a:extLst>
          </p:cNvPr>
          <p:cNvSpPr txBox="1"/>
          <p:nvPr/>
        </p:nvSpPr>
        <p:spPr>
          <a:xfrm>
            <a:off x="4155204" y="5831210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8C4FA4-54A8-416F-B614-7CDB9F7D2051}"/>
              </a:ext>
            </a:extLst>
          </p:cNvPr>
          <p:cNvSpPr txBox="1"/>
          <p:nvPr/>
        </p:nvSpPr>
        <p:spPr>
          <a:xfrm>
            <a:off x="978919" y="3604502"/>
            <a:ext cx="344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F7494B8-6CE6-444D-B483-E7EBCC1474D6}"/>
              </a:ext>
            </a:extLst>
          </p:cNvPr>
          <p:cNvSpPr txBox="1"/>
          <p:nvPr/>
        </p:nvSpPr>
        <p:spPr>
          <a:xfrm>
            <a:off x="4338136" y="3553051"/>
            <a:ext cx="415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#10</a:t>
            </a:r>
            <a:endParaRPr lang="en-US" sz="1050" dirty="0"/>
          </a:p>
        </p:txBody>
      </p:sp>
      <p:sp>
        <p:nvSpPr>
          <p:cNvPr id="103" name="Flowchart: Terminator 102">
            <a:extLst>
              <a:ext uri="{FF2B5EF4-FFF2-40B4-BE49-F238E27FC236}">
                <a16:creationId xmlns:a16="http://schemas.microsoft.com/office/drawing/2014/main" id="{36AC42C7-E5EC-403B-AB33-376D8FB08306}"/>
              </a:ext>
            </a:extLst>
          </p:cNvPr>
          <p:cNvSpPr/>
          <p:nvPr/>
        </p:nvSpPr>
        <p:spPr>
          <a:xfrm>
            <a:off x="3308183" y="5067649"/>
            <a:ext cx="1304237" cy="370915"/>
          </a:xfrm>
          <a:prstGeom prst="flowChartTerminator">
            <a:avLst/>
          </a:prstGeom>
          <a:solidFill>
            <a:schemeClr val="accent4">
              <a:alpha val="5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Email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0D2E785-39B8-4B5E-8F66-8A9ECBD47D01}"/>
              </a:ext>
            </a:extLst>
          </p:cNvPr>
          <p:cNvCxnSpPr>
            <a:cxnSpLocks/>
            <a:stCxn id="92" idx="3"/>
            <a:endCxn id="103" idx="1"/>
          </p:cNvCxnSpPr>
          <p:nvPr/>
        </p:nvCxnSpPr>
        <p:spPr>
          <a:xfrm>
            <a:off x="3115101" y="5253107"/>
            <a:ext cx="1930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D68CCD3-BC33-4A88-B43A-64451BB27359}"/>
              </a:ext>
            </a:extLst>
          </p:cNvPr>
          <p:cNvSpPr txBox="1"/>
          <p:nvPr/>
        </p:nvSpPr>
        <p:spPr>
          <a:xfrm>
            <a:off x="11277601" y="6456315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9EB5C-8D18-4CED-8A49-24DF257E05E5}"/>
              </a:ext>
            </a:extLst>
          </p:cNvPr>
          <p:cNvSpPr txBox="1"/>
          <p:nvPr/>
        </p:nvSpPr>
        <p:spPr>
          <a:xfrm>
            <a:off x="11263529" y="73320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3/3/2021</a:t>
            </a:r>
          </a:p>
        </p:txBody>
      </p:sp>
    </p:spTree>
    <p:extLst>
      <p:ext uri="{BB962C8B-B14F-4D97-AF65-F5344CB8AC3E}">
        <p14:creationId xmlns:p14="http://schemas.microsoft.com/office/powerpoint/2010/main" val="144519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34F6934-5E15-4456-8A07-1790ACD2987B}"/>
              </a:ext>
            </a:extLst>
          </p:cNvPr>
          <p:cNvSpPr/>
          <p:nvPr/>
        </p:nvSpPr>
        <p:spPr>
          <a:xfrm>
            <a:off x="2801473" y="2940709"/>
            <a:ext cx="6508275" cy="1893374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FBA487C-6AF1-4D09-B743-F73DC066AF88}"/>
              </a:ext>
            </a:extLst>
          </p:cNvPr>
          <p:cNvSpPr/>
          <p:nvPr/>
        </p:nvSpPr>
        <p:spPr>
          <a:xfrm>
            <a:off x="3809658" y="5001350"/>
            <a:ext cx="4859383" cy="1454965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16512212-3D07-4A45-8334-2EAB79147E01}"/>
              </a:ext>
            </a:extLst>
          </p:cNvPr>
          <p:cNvSpPr/>
          <p:nvPr/>
        </p:nvSpPr>
        <p:spPr>
          <a:xfrm>
            <a:off x="1735720" y="916353"/>
            <a:ext cx="8103326" cy="1711826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ACD62-02A0-427C-B6FA-F32F29129B0D}"/>
              </a:ext>
            </a:extLst>
          </p:cNvPr>
          <p:cNvSpPr txBox="1"/>
          <p:nvPr/>
        </p:nvSpPr>
        <p:spPr>
          <a:xfrm>
            <a:off x="11277601" y="6456315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7DFBA-2EED-4CCE-83A9-093EE688CE0E}"/>
              </a:ext>
            </a:extLst>
          </p:cNvPr>
          <p:cNvSpPr/>
          <p:nvPr/>
        </p:nvSpPr>
        <p:spPr>
          <a:xfrm>
            <a:off x="2947851" y="73065"/>
            <a:ext cx="6296298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risq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V2 Header Drop Down Menu</a:t>
            </a:r>
          </a:p>
          <a:p>
            <a:pPr algn="ctr"/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CC79F2C-B676-489E-9099-4133AC6AF1F3}"/>
              </a:ext>
            </a:extLst>
          </p:cNvPr>
          <p:cNvGrpSpPr/>
          <p:nvPr/>
        </p:nvGrpSpPr>
        <p:grpSpPr>
          <a:xfrm>
            <a:off x="3468726" y="3081897"/>
            <a:ext cx="5610387" cy="1403164"/>
            <a:chOff x="2992743" y="2499254"/>
            <a:chExt cx="5610387" cy="140316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4F07FFD-6735-47DA-A7BE-A49E57C1B5A1}"/>
                </a:ext>
              </a:extLst>
            </p:cNvPr>
            <p:cNvSpPr/>
            <p:nvPr/>
          </p:nvSpPr>
          <p:spPr>
            <a:xfrm>
              <a:off x="4664530" y="2499254"/>
              <a:ext cx="2204093" cy="488781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Services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A4BBE1C-3B43-4C6F-820B-5D6D39C3ECE6}"/>
                </a:ext>
              </a:extLst>
            </p:cNvPr>
            <p:cNvSpPr/>
            <p:nvPr/>
          </p:nvSpPr>
          <p:spPr>
            <a:xfrm>
              <a:off x="4902925" y="3471351"/>
              <a:ext cx="1727303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Government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4DCA94D-AD8C-4A78-AE40-C2BE236854D7}"/>
                </a:ext>
              </a:extLst>
            </p:cNvPr>
            <p:cNvSpPr/>
            <p:nvPr/>
          </p:nvSpPr>
          <p:spPr>
            <a:xfrm>
              <a:off x="6813105" y="3471351"/>
              <a:ext cx="1727302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Insurance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19423280-DA75-4ACC-9D81-A4B976F0DE71}"/>
                </a:ext>
              </a:extLst>
            </p:cNvPr>
            <p:cNvCxnSpPr>
              <a:cxnSpLocks/>
              <a:stCxn id="4" idx="2"/>
              <a:endCxn id="29" idx="0"/>
            </p:cNvCxnSpPr>
            <p:nvPr/>
          </p:nvCxnSpPr>
          <p:spPr>
            <a:xfrm rot="5400000">
              <a:off x="4569828" y="2274602"/>
              <a:ext cx="483316" cy="191018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D06382D1-097F-4A59-99D4-17D595C56D74}"/>
                </a:ext>
              </a:extLst>
            </p:cNvPr>
            <p:cNvCxnSpPr>
              <a:cxnSpLocks/>
              <a:stCxn id="4" idx="2"/>
              <a:endCxn id="31" idx="0"/>
            </p:cNvCxnSpPr>
            <p:nvPr/>
          </p:nvCxnSpPr>
          <p:spPr>
            <a:xfrm rot="16200000" flipH="1">
              <a:off x="6480008" y="2274603"/>
              <a:ext cx="483316" cy="191017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C8018CB-3385-4234-9B0F-F1F7A994E95F}"/>
                </a:ext>
              </a:extLst>
            </p:cNvPr>
            <p:cNvCxnSpPr>
              <a:cxnSpLocks/>
              <a:stCxn id="4" idx="2"/>
              <a:endCxn id="30" idx="0"/>
            </p:cNvCxnSpPr>
            <p:nvPr/>
          </p:nvCxnSpPr>
          <p:spPr>
            <a:xfrm>
              <a:off x="5766577" y="2988035"/>
              <a:ext cx="0" cy="4833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536304F-F7AB-420D-8890-E9DD8BBE3EF2}"/>
                </a:ext>
              </a:extLst>
            </p:cNvPr>
            <p:cNvSpPr/>
            <p:nvPr/>
          </p:nvSpPr>
          <p:spPr>
            <a:xfrm>
              <a:off x="2992743" y="3471351"/>
              <a:ext cx="1727304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Homeowners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90F5C50-90A8-4DB2-A647-D8FDEFC3912E}"/>
                </a:ext>
              </a:extLst>
            </p:cNvPr>
            <p:cNvSpPr txBox="1"/>
            <p:nvPr/>
          </p:nvSpPr>
          <p:spPr>
            <a:xfrm>
              <a:off x="3069928" y="3686974"/>
              <a:ext cx="16152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https://qrisq.com/homeowners-3/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C01ED40-B1AA-4DCC-A6F1-DA5CCB842B9A}"/>
                </a:ext>
              </a:extLst>
            </p:cNvPr>
            <p:cNvSpPr txBox="1"/>
            <p:nvPr/>
          </p:nvSpPr>
          <p:spPr>
            <a:xfrm>
              <a:off x="4967333" y="3686974"/>
              <a:ext cx="159848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https://qrisq.com/government-4/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32AF229-8E98-4BED-92E3-EF1CAF96167E}"/>
                </a:ext>
              </a:extLst>
            </p:cNvPr>
            <p:cNvSpPr txBox="1"/>
            <p:nvPr/>
          </p:nvSpPr>
          <p:spPr>
            <a:xfrm>
              <a:off x="6750381" y="3686974"/>
              <a:ext cx="185274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https://qrisq.com/insurance-industry/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EAAE4A1-9BB1-48C4-937E-3DB325538C71}"/>
              </a:ext>
            </a:extLst>
          </p:cNvPr>
          <p:cNvGrpSpPr/>
          <p:nvPr/>
        </p:nvGrpSpPr>
        <p:grpSpPr>
          <a:xfrm>
            <a:off x="2770637" y="1014543"/>
            <a:ext cx="6254488" cy="1562365"/>
            <a:chOff x="44347" y="750888"/>
            <a:chExt cx="6254488" cy="156236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AAB3AC1-2B03-4421-A920-19D8DF633C5A}"/>
                </a:ext>
              </a:extLst>
            </p:cNvPr>
            <p:cNvSpPr/>
            <p:nvPr/>
          </p:nvSpPr>
          <p:spPr>
            <a:xfrm>
              <a:off x="2325945" y="750888"/>
              <a:ext cx="1761963" cy="46768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Storm Data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E3C8B90-D6BA-4BE6-8DD0-C2FADF08719C}"/>
                </a:ext>
              </a:extLst>
            </p:cNvPr>
            <p:cNvSpPr/>
            <p:nvPr/>
          </p:nvSpPr>
          <p:spPr>
            <a:xfrm>
              <a:off x="5445566" y="1756095"/>
              <a:ext cx="853269" cy="401549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FAQ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placeholder)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DE525DC-F97D-4036-8890-D093EFE01BA9}"/>
                </a:ext>
              </a:extLst>
            </p:cNvPr>
            <p:cNvSpPr/>
            <p:nvPr/>
          </p:nvSpPr>
          <p:spPr>
            <a:xfrm>
              <a:off x="4312162" y="1741714"/>
              <a:ext cx="853269" cy="410123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</a:t>
              </a:r>
            </a:p>
            <a:p>
              <a:pPr algn="ctr"/>
              <a:r>
                <a:rPr lang="en-US" sz="1000" kern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900" kern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placeholder)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5065BA6-CD86-4127-8969-84C6716F99E9}"/>
                </a:ext>
              </a:extLst>
            </p:cNvPr>
            <p:cNvSpPr/>
            <p:nvPr/>
          </p:nvSpPr>
          <p:spPr>
            <a:xfrm>
              <a:off x="2168160" y="1756096"/>
              <a:ext cx="2083062" cy="536631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Hindcast</a:t>
              </a:r>
              <a:endPara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C191A09-6183-4047-88EE-3DE783A041B1}"/>
                </a:ext>
              </a:extLst>
            </p:cNvPr>
            <p:cNvSpPr/>
            <p:nvPr/>
          </p:nvSpPr>
          <p:spPr>
            <a:xfrm>
              <a:off x="44347" y="1756102"/>
              <a:ext cx="1988414" cy="557151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Forecast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B641C9AE-DE42-41E0-853E-8F1919249B86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 rot="5400000">
              <a:off x="1853979" y="403153"/>
              <a:ext cx="537525" cy="216837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8086EE68-11AC-40B7-B1E1-ED8EC996DDC4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 rot="16200000" flipH="1">
              <a:off x="4270805" y="154699"/>
              <a:ext cx="537518" cy="266527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B48AD1-A35E-4A93-9219-CB3F78B20EE7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4731652" y="1489878"/>
              <a:ext cx="7145" cy="251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C28B1DA-06EE-4F10-90F5-E0BEE0119BE9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3209691" y="1475117"/>
              <a:ext cx="0" cy="280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5B543B0-626D-4D25-A945-0D42F1E34289}"/>
                </a:ext>
              </a:extLst>
            </p:cNvPr>
            <p:cNvSpPr txBox="1"/>
            <p:nvPr/>
          </p:nvSpPr>
          <p:spPr>
            <a:xfrm>
              <a:off x="2102534" y="2045135"/>
              <a:ext cx="221846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https://qrisq.com/hindcast-post-event-analysis/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A0AC02E-B3D7-4FB5-82C7-F592E5E546E3}"/>
              </a:ext>
            </a:extLst>
          </p:cNvPr>
          <p:cNvGrpSpPr/>
          <p:nvPr/>
        </p:nvGrpSpPr>
        <p:grpSpPr>
          <a:xfrm>
            <a:off x="4586430" y="5133565"/>
            <a:ext cx="3843467" cy="1219311"/>
            <a:chOff x="8650548" y="938335"/>
            <a:chExt cx="3843467" cy="121931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FA101D7-C378-4F83-AC08-B18E3C96BF6C}"/>
                </a:ext>
              </a:extLst>
            </p:cNvPr>
            <p:cNvSpPr/>
            <p:nvPr/>
          </p:nvSpPr>
          <p:spPr>
            <a:xfrm>
              <a:off x="9244149" y="938335"/>
              <a:ext cx="2204093" cy="488781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Login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744E8FB-732B-43FD-8A0C-9F5A4DB54704}"/>
                </a:ext>
              </a:extLst>
            </p:cNvPr>
            <p:cNvSpPr/>
            <p:nvPr/>
          </p:nvSpPr>
          <p:spPr>
            <a:xfrm>
              <a:off x="11066495" y="1756096"/>
              <a:ext cx="1427520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 Us</a:t>
              </a:r>
            </a:p>
            <a:p>
              <a:pPr algn="ctr"/>
              <a:r>
                <a:rPr lang="en-US" sz="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https://qrisq.com/contact-us/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788DE89-8965-4AB8-877C-2B148DA348BE}"/>
                </a:ext>
              </a:extLst>
            </p:cNvPr>
            <p:cNvSpPr/>
            <p:nvPr/>
          </p:nvSpPr>
          <p:spPr>
            <a:xfrm>
              <a:off x="9858522" y="1756097"/>
              <a:ext cx="975346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Register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8349EC3-1DB4-48D2-83AE-76AA8DD48480}"/>
                </a:ext>
              </a:extLst>
            </p:cNvPr>
            <p:cNvSpPr/>
            <p:nvPr/>
          </p:nvSpPr>
          <p:spPr>
            <a:xfrm>
              <a:off x="8650548" y="1756097"/>
              <a:ext cx="975346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1FE968F0-B650-41E2-A0CA-F020D13146A5}"/>
                </a:ext>
              </a:extLst>
            </p:cNvPr>
            <p:cNvCxnSpPr>
              <a:cxnSpLocks/>
              <a:stCxn id="7" idx="2"/>
              <a:endCxn id="44" idx="0"/>
            </p:cNvCxnSpPr>
            <p:nvPr/>
          </p:nvCxnSpPr>
          <p:spPr>
            <a:xfrm rot="16200000" flipH="1">
              <a:off x="10898735" y="874576"/>
              <a:ext cx="328980" cy="143405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0F02EDF-793A-45FF-BD02-2FB005EA2D0D}"/>
                </a:ext>
              </a:extLst>
            </p:cNvPr>
            <p:cNvCxnSpPr>
              <a:cxnSpLocks/>
              <a:stCxn id="7" idx="2"/>
              <a:endCxn id="46" idx="0"/>
            </p:cNvCxnSpPr>
            <p:nvPr/>
          </p:nvCxnSpPr>
          <p:spPr>
            <a:xfrm rot="5400000">
              <a:off x="9577719" y="987619"/>
              <a:ext cx="328981" cy="120797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BDDC512-B955-4EBE-B7E2-955AAB44AB9B}"/>
                </a:ext>
              </a:extLst>
            </p:cNvPr>
            <p:cNvCxnSpPr>
              <a:cxnSpLocks/>
              <a:stCxn id="7" idx="2"/>
              <a:endCxn id="45" idx="0"/>
            </p:cNvCxnSpPr>
            <p:nvPr/>
          </p:nvCxnSpPr>
          <p:spPr>
            <a:xfrm flipH="1">
              <a:off x="10346195" y="1427116"/>
              <a:ext cx="1" cy="32898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60E3E92-4462-4EA6-BD42-B3A5C269DB0B}"/>
                </a:ext>
              </a:extLst>
            </p:cNvPr>
            <p:cNvSpPr txBox="1"/>
            <p:nvPr/>
          </p:nvSpPr>
          <p:spPr>
            <a:xfrm>
              <a:off x="9242701" y="1683656"/>
              <a:ext cx="4539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#14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6AEC8C6-A067-43A4-8243-3CEEEA37111B}"/>
                </a:ext>
              </a:extLst>
            </p:cNvPr>
            <p:cNvSpPr txBox="1"/>
            <p:nvPr/>
          </p:nvSpPr>
          <p:spPr>
            <a:xfrm>
              <a:off x="10508048" y="1701073"/>
              <a:ext cx="522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#2</a:t>
              </a: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7FE589FA-79B4-4A14-B60E-86AEC247EDF7}"/>
              </a:ext>
            </a:extLst>
          </p:cNvPr>
          <p:cNvSpPr txBox="1"/>
          <p:nvPr/>
        </p:nvSpPr>
        <p:spPr>
          <a:xfrm>
            <a:off x="2743238" y="2322150"/>
            <a:ext cx="21118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https://qrisq.com/forecast-prior-to-landfall/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6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173EDC6-CB2D-46F4-94D2-7D56447968D7}"/>
              </a:ext>
            </a:extLst>
          </p:cNvPr>
          <p:cNvSpPr/>
          <p:nvPr/>
        </p:nvSpPr>
        <p:spPr>
          <a:xfrm>
            <a:off x="2663524" y="2915841"/>
            <a:ext cx="6508275" cy="1544578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7AE21-C36E-420F-A7CA-3378D817F7A3}"/>
              </a:ext>
            </a:extLst>
          </p:cNvPr>
          <p:cNvSpPr/>
          <p:nvPr/>
        </p:nvSpPr>
        <p:spPr>
          <a:xfrm>
            <a:off x="2947851" y="73065"/>
            <a:ext cx="6296298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risq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V2 Footer Drop Down Menu</a:t>
            </a:r>
          </a:p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5DDD6A-EEEB-42A9-8E69-DBDC2F925A74}"/>
              </a:ext>
            </a:extLst>
          </p:cNvPr>
          <p:cNvGrpSpPr/>
          <p:nvPr/>
        </p:nvGrpSpPr>
        <p:grpSpPr>
          <a:xfrm>
            <a:off x="3290806" y="2964579"/>
            <a:ext cx="5610387" cy="1403163"/>
            <a:chOff x="2992743" y="2499255"/>
            <a:chExt cx="5610387" cy="14031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7DC6923-53BB-4FD6-BD34-F86CB5C9F8E0}"/>
                </a:ext>
              </a:extLst>
            </p:cNvPr>
            <p:cNvSpPr/>
            <p:nvPr/>
          </p:nvSpPr>
          <p:spPr>
            <a:xfrm>
              <a:off x="4664530" y="2499255"/>
              <a:ext cx="2220509" cy="440376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Services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5878512-DADA-4051-9FDF-3B5D4DEADE39}"/>
                </a:ext>
              </a:extLst>
            </p:cNvPr>
            <p:cNvSpPr/>
            <p:nvPr/>
          </p:nvSpPr>
          <p:spPr>
            <a:xfrm>
              <a:off x="4902925" y="3471351"/>
              <a:ext cx="1727303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Government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A3631FA-CC4B-40E5-A11F-5571E171ED3D}"/>
                </a:ext>
              </a:extLst>
            </p:cNvPr>
            <p:cNvSpPr/>
            <p:nvPr/>
          </p:nvSpPr>
          <p:spPr>
            <a:xfrm>
              <a:off x="6813105" y="3471351"/>
              <a:ext cx="1727302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Insurance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9407B46A-EC70-43B3-BB83-2942A786D287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 rot="5400000">
              <a:off x="4549730" y="2246296"/>
              <a:ext cx="531720" cy="19183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A8EDC3D7-CEE7-4154-A70D-C746DDBB9FFF}"/>
                </a:ext>
              </a:extLst>
            </p:cNvPr>
            <p:cNvCxnSpPr>
              <a:cxnSpLocks/>
              <a:stCxn id="17" idx="2"/>
              <a:endCxn id="19" idx="0"/>
            </p:cNvCxnSpPr>
            <p:nvPr/>
          </p:nvCxnSpPr>
          <p:spPr>
            <a:xfrm rot="16200000" flipH="1">
              <a:off x="6459910" y="2254505"/>
              <a:ext cx="531720" cy="1901971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6EB38F4-8AF7-40EC-B68D-517E6810749A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 flipH="1">
              <a:off x="5766577" y="2939631"/>
              <a:ext cx="8208" cy="5317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AD36E-850F-4855-BD5C-D4D795489AF6}"/>
                </a:ext>
              </a:extLst>
            </p:cNvPr>
            <p:cNvSpPr/>
            <p:nvPr/>
          </p:nvSpPr>
          <p:spPr>
            <a:xfrm>
              <a:off x="2992743" y="3471351"/>
              <a:ext cx="1727304" cy="40154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Homeowners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07559B-8E07-4172-AE35-26233368C73E}"/>
                </a:ext>
              </a:extLst>
            </p:cNvPr>
            <p:cNvSpPr txBox="1"/>
            <p:nvPr/>
          </p:nvSpPr>
          <p:spPr>
            <a:xfrm>
              <a:off x="3069928" y="3686974"/>
              <a:ext cx="16152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https://qrisq.com/homeowners-3/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0E2DEEA-D272-4CF4-9D8A-1FB148CE390C}"/>
                </a:ext>
              </a:extLst>
            </p:cNvPr>
            <p:cNvSpPr txBox="1"/>
            <p:nvPr/>
          </p:nvSpPr>
          <p:spPr>
            <a:xfrm>
              <a:off x="4967333" y="3686974"/>
              <a:ext cx="159848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https://qrisq.com/government-4/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C5763B-9B24-4B24-B4F1-A6900F7694CF}"/>
                </a:ext>
              </a:extLst>
            </p:cNvPr>
            <p:cNvSpPr txBox="1"/>
            <p:nvPr/>
          </p:nvSpPr>
          <p:spPr>
            <a:xfrm>
              <a:off x="6750381" y="3686974"/>
              <a:ext cx="185274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https://qrisq.com/insurance-industry/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F943A63-B78A-4D47-865E-8C3ECE046391}"/>
              </a:ext>
            </a:extLst>
          </p:cNvPr>
          <p:cNvSpPr/>
          <p:nvPr/>
        </p:nvSpPr>
        <p:spPr>
          <a:xfrm>
            <a:off x="4858521" y="4791364"/>
            <a:ext cx="2179931" cy="401549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endParaRPr lang="en-US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09B319-53D2-48B5-B4B7-2C9B853B5EC5}"/>
              </a:ext>
            </a:extLst>
          </p:cNvPr>
          <p:cNvSpPr txBox="1"/>
          <p:nvPr/>
        </p:nvSpPr>
        <p:spPr>
          <a:xfrm>
            <a:off x="6498411" y="4821899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E4CD9D-97C4-4010-A57D-D23BB1FA7E5A}"/>
              </a:ext>
            </a:extLst>
          </p:cNvPr>
          <p:cNvSpPr txBox="1"/>
          <p:nvPr/>
        </p:nvSpPr>
        <p:spPr>
          <a:xfrm>
            <a:off x="11277601" y="6456315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239238F-AAF0-4684-BDB6-BCED6AFD47CD}"/>
              </a:ext>
            </a:extLst>
          </p:cNvPr>
          <p:cNvSpPr/>
          <p:nvPr/>
        </p:nvSpPr>
        <p:spPr>
          <a:xfrm>
            <a:off x="1735720" y="916353"/>
            <a:ext cx="8103326" cy="1711826"/>
          </a:xfrm>
          <a:prstGeom prst="roundRect">
            <a:avLst>
              <a:gd name="adj" fmla="val 21355"/>
            </a:avLst>
          </a:prstGeom>
          <a:ln w="28575"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210C18F-11A9-4D58-A8BB-9D23BD0C6FA7}"/>
              </a:ext>
            </a:extLst>
          </p:cNvPr>
          <p:cNvGrpSpPr/>
          <p:nvPr/>
        </p:nvGrpSpPr>
        <p:grpSpPr>
          <a:xfrm>
            <a:off x="2770637" y="1014543"/>
            <a:ext cx="6254488" cy="1562365"/>
            <a:chOff x="44347" y="750888"/>
            <a:chExt cx="6254488" cy="1562365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D20C0B1D-7CCD-4471-A09E-E61C20957C0A}"/>
                </a:ext>
              </a:extLst>
            </p:cNvPr>
            <p:cNvSpPr/>
            <p:nvPr/>
          </p:nvSpPr>
          <p:spPr>
            <a:xfrm>
              <a:off x="2325945" y="750888"/>
              <a:ext cx="1761963" cy="46768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Storm Data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F14DB51-59AC-4D94-A7DF-CB42894224A4}"/>
                </a:ext>
              </a:extLst>
            </p:cNvPr>
            <p:cNvSpPr/>
            <p:nvPr/>
          </p:nvSpPr>
          <p:spPr>
            <a:xfrm>
              <a:off x="5445566" y="1756095"/>
              <a:ext cx="853269" cy="401549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FAQ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placeholder)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F388EB0-C63D-4906-BC04-AB6AF79106D1}"/>
                </a:ext>
              </a:extLst>
            </p:cNvPr>
            <p:cNvSpPr/>
            <p:nvPr/>
          </p:nvSpPr>
          <p:spPr>
            <a:xfrm>
              <a:off x="4312162" y="1741714"/>
              <a:ext cx="853269" cy="410123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</a:t>
              </a:r>
            </a:p>
            <a:p>
              <a:pPr algn="ctr"/>
              <a:r>
                <a:rPr lang="en-US" sz="1000" kern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900" kern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placeholder)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3A053F3C-4D52-4C90-BEB2-FD06D4AD4FA3}"/>
                </a:ext>
              </a:extLst>
            </p:cNvPr>
            <p:cNvSpPr/>
            <p:nvPr/>
          </p:nvSpPr>
          <p:spPr>
            <a:xfrm>
              <a:off x="2168160" y="1756096"/>
              <a:ext cx="2083062" cy="536631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Hindcast</a:t>
              </a:r>
              <a:endPara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1DB420BC-537C-44BC-9288-06C010FA3C59}"/>
                </a:ext>
              </a:extLst>
            </p:cNvPr>
            <p:cNvSpPr/>
            <p:nvPr/>
          </p:nvSpPr>
          <p:spPr>
            <a:xfrm>
              <a:off x="44347" y="1756102"/>
              <a:ext cx="1988414" cy="557151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tx2">
                    <a:lumMod val="75000"/>
                    <a:tint val="66000"/>
                    <a:satMod val="160000"/>
                  </a:schemeClr>
                </a:gs>
                <a:gs pos="50000">
                  <a:schemeClr val="tx2">
                    <a:lumMod val="75000"/>
                    <a:tint val="44500"/>
                    <a:satMod val="160000"/>
                  </a:schemeClr>
                </a:gs>
                <a:gs pos="100000">
                  <a:schemeClr val="tx2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Forecast</a:t>
              </a:r>
              <a:endParaRPr lang="en-US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47F1A402-F65C-4BE2-A977-7B78A0EDFFA7}"/>
                </a:ext>
              </a:extLst>
            </p:cNvPr>
            <p:cNvCxnSpPr>
              <a:cxnSpLocks/>
              <a:stCxn id="70" idx="2"/>
              <a:endCxn id="74" idx="0"/>
            </p:cNvCxnSpPr>
            <p:nvPr/>
          </p:nvCxnSpPr>
          <p:spPr>
            <a:xfrm rot="5400000">
              <a:off x="1853979" y="403153"/>
              <a:ext cx="537525" cy="216837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EB798898-D5CB-4D43-880F-5BB35CA627AC}"/>
                </a:ext>
              </a:extLst>
            </p:cNvPr>
            <p:cNvCxnSpPr>
              <a:cxnSpLocks/>
              <a:stCxn id="70" idx="2"/>
              <a:endCxn id="71" idx="0"/>
            </p:cNvCxnSpPr>
            <p:nvPr/>
          </p:nvCxnSpPr>
          <p:spPr>
            <a:xfrm rot="16200000" flipH="1">
              <a:off x="4270805" y="154699"/>
              <a:ext cx="537518" cy="266527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1563D4A-9B8E-4BF8-9346-C6168625DD1C}"/>
                </a:ext>
              </a:extLst>
            </p:cNvPr>
            <p:cNvCxnSpPr>
              <a:cxnSpLocks/>
              <a:endCxn id="72" idx="0"/>
            </p:cNvCxnSpPr>
            <p:nvPr/>
          </p:nvCxnSpPr>
          <p:spPr>
            <a:xfrm>
              <a:off x="4731652" y="1489878"/>
              <a:ext cx="7145" cy="251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C586187-4FB4-433E-9C9C-D87377902AAF}"/>
                </a:ext>
              </a:extLst>
            </p:cNvPr>
            <p:cNvCxnSpPr>
              <a:cxnSpLocks/>
              <a:endCxn id="73" idx="0"/>
            </p:cNvCxnSpPr>
            <p:nvPr/>
          </p:nvCxnSpPr>
          <p:spPr>
            <a:xfrm>
              <a:off x="3209691" y="1475117"/>
              <a:ext cx="0" cy="280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61FD3D6-6051-4819-8826-B7BDFC81C201}"/>
                </a:ext>
              </a:extLst>
            </p:cNvPr>
            <p:cNvSpPr txBox="1"/>
            <p:nvPr/>
          </p:nvSpPr>
          <p:spPr>
            <a:xfrm>
              <a:off x="2102534" y="2045135"/>
              <a:ext cx="221846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https://qrisq.com/hindcast-post-event-analysis/</a:t>
              </a:r>
              <a:endPara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7348C171-962B-4EBC-AED1-C09A30E2CD2E}"/>
              </a:ext>
            </a:extLst>
          </p:cNvPr>
          <p:cNvSpPr txBox="1"/>
          <p:nvPr/>
        </p:nvSpPr>
        <p:spPr>
          <a:xfrm>
            <a:off x="2743238" y="2322150"/>
            <a:ext cx="21118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https://qrisq.com/forecast-prior-to-landfall/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316EC52-E95A-4EFB-9532-F2AB9DA4F934}"/>
              </a:ext>
            </a:extLst>
          </p:cNvPr>
          <p:cNvSpPr/>
          <p:nvPr/>
        </p:nvSpPr>
        <p:spPr>
          <a:xfrm>
            <a:off x="5040222" y="5556761"/>
            <a:ext cx="1916695" cy="783317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Contact Us</a:t>
            </a:r>
          </a:p>
          <a:p>
            <a:pPr algn="ctr"/>
            <a:r>
              <a:rPr lang="en-US" sz="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https://qrisq.com/contact-us/</a:t>
            </a:r>
          </a:p>
        </p:txBody>
      </p:sp>
    </p:spTree>
    <p:extLst>
      <p:ext uri="{BB962C8B-B14F-4D97-AF65-F5344CB8AC3E}">
        <p14:creationId xmlns:p14="http://schemas.microsoft.com/office/powerpoint/2010/main" val="10540451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1669306</Value>
      <Value>1669445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2013-01-21T07:54:00+00:00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ApprovalLog xmlns="4873beb7-5857-4685-be1f-d57550cc96cc" xsi:nil="true"/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TP104001058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875887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LocMarketGroupTiers2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D8FEBD-5ABD-4CF4-8A24-EAAA08BD57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CCCEA7-1327-49DD-AC35-4264F7CCB5D7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4873beb7-5857-4685-be1f-d57550cc96cc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95EAC7E-3670-4A33-88E9-089AAE82E0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797</TotalTime>
  <Words>271</Words>
  <Application>Microsoft Office PowerPoint</Application>
  <PresentationFormat>Widescreen</PresentationFormat>
  <Paragraphs>105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 vz 2</dc:title>
  <dc:creator>Jacqueline Wilson</dc:creator>
  <cp:lastModifiedBy>Jacqueline Wilson</cp:lastModifiedBy>
  <cp:revision>85</cp:revision>
  <cp:lastPrinted>2021-03-03T18:44:49Z</cp:lastPrinted>
  <dcterms:created xsi:type="dcterms:W3CDTF">2021-02-25T16:31:37Z</dcterms:created>
  <dcterms:modified xsi:type="dcterms:W3CDTF">2021-03-05T22:26:15Z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